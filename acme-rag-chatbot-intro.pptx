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5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-1005840"/>
            <a:ext cx="2926080" cy="2926080"/>
          </a:xfrm>
          <a:prstGeom prst="ellipse">
            <a:avLst/>
          </a:prstGeom>
          <a:solidFill>
            <a:srgbClr val="087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138160" y="-640080"/>
            <a:ext cx="1645920" cy="16459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Calibri"/>
              </a:rPr>
              <a:t>ACME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7315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Knowledge Assistant</a:t>
            </a:r>
          </a:p>
          <a:p>
            <a:pPr algn="l"/>
            <a:r>
              <a:rPr sz="2800" b="0">
                <a:solidFill>
                  <a:srgbClr val="BAE6FD"/>
                </a:solidFill>
                <a:latin typeface="Calibri"/>
              </a:rPr>
              <a:t>for Engineering Teams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880360"/>
            <a:ext cx="32004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0175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AE6FD"/>
                </a:solidFill>
                <a:latin typeface="Calibri"/>
              </a:rPr>
              <a:t>RAG-powered Q&amp;A · Team-scoped search · AI build diagnosis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6634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607E"/>
                </a:solidFill>
                <a:latin typeface="Calibri"/>
              </a:rPr>
              <a:t>Acme Engineering Platform Team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234440"/>
            <a:ext cx="2788920" cy="329184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2788920" cy="20116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59" y="1581911"/>
            <a:ext cx="585216" cy="585216"/>
          </a:xfrm>
          <a:prstGeom prst="ellipse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2336" y="1618488"/>
            <a:ext cx="530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2286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3557"/>
                </a:solidFill>
                <a:latin typeface="Calibri"/>
              </a:rPr>
              <a:t>Knowledge is scattered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2788920"/>
            <a:ext cx="25603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607E"/>
                </a:solidFill>
                <a:latin typeface="Calibri"/>
              </a:rPr>
              <a:t>Answers live across Confluence pages, Jira tickets, Slack threads — no single place to look.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234440"/>
            <a:ext cx="2788920" cy="329184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6120" y="1234440"/>
            <a:ext cx="2788920" cy="20116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337560" y="1581911"/>
            <a:ext cx="585216" cy="585216"/>
          </a:xfrm>
          <a:prstGeom prst="ellipse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74136" y="1618488"/>
            <a:ext cx="530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5848" y="2286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3557"/>
                </a:solidFill>
                <a:latin typeface="Calibri"/>
              </a:rPr>
              <a:t>Slow to find answers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5848" y="2788920"/>
            <a:ext cx="25603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607E"/>
                </a:solidFill>
                <a:latin typeface="Calibri"/>
              </a:rPr>
              <a:t>Engineers spend 20–30 min hunting docs for setup steps, pipeline configs, or infra runbooks.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234440"/>
            <a:ext cx="2788920" cy="329184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234440"/>
            <a:ext cx="2788920" cy="20116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09359" y="1581911"/>
            <a:ext cx="585216" cy="585216"/>
          </a:xfrm>
          <a:prstGeom prst="ellipse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1618488"/>
            <a:ext cx="530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2286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3557"/>
                </a:solidFill>
                <a:latin typeface="Calibri"/>
              </a:rPr>
              <a:t>Knowledge goes stale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2788920"/>
            <a:ext cx="25603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607E"/>
                </a:solidFill>
                <a:latin typeface="Calibri"/>
              </a:rPr>
              <a:t>Docs get updated; people onboard from outdated wikis and hit problems that were already solved.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Solution: The Knowledge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C3557"/>
                </a:solidFill>
                <a:latin typeface="Calibri"/>
              </a:rPr>
              <a:t>Ask questions in plain English.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0020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607E"/>
                </a:solidFill>
                <a:latin typeface="Calibri"/>
              </a:rPr>
              <a:t>The assistant searches your team's Confluence pages, Jira tickets,</a:t>
            </a:r>
          </a:p>
          <a:p>
            <a:pPr algn="l"/>
            <a:r>
              <a:rPr sz="1300" b="0">
                <a:solidFill>
                  <a:srgbClr val="47607E"/>
                </a:solidFill>
                <a:latin typeface="Calibri"/>
              </a:rPr>
              <a:t> and internal docs — then answers with source citations.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423160"/>
            <a:ext cx="73152" cy="5486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231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Instant answers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15768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607E"/>
                </a:solidFill>
                <a:latin typeface="Calibri"/>
              </a:rPr>
              <a:t>No more tab-switching through 10 Confluence pages.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227832"/>
            <a:ext cx="73152" cy="5486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2783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Source-cited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20439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607E"/>
                </a:solidFill>
                <a:latin typeface="Calibri"/>
              </a:rPr>
              <a:t>Every answer links back to the doc it came from.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032504"/>
            <a:ext cx="73152" cy="548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03250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Team-scoped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2511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607E"/>
                </a:solidFill>
                <a:latin typeface="Calibri"/>
              </a:rPr>
              <a:t>CI/CD team sees CI/CD docs. Infra team sees Infra docs.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1051560"/>
            <a:ext cx="3749039" cy="3703320"/>
          </a:xfrm>
          <a:prstGeom prst="rect">
            <a:avLst/>
          </a:prstGeom>
          <a:solidFill>
            <a:srgbClr val="E0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0" y="1051560"/>
            <a:ext cx="3749039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66360" y="11430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891B2"/>
                </a:solidFill>
                <a:latin typeface="Calibri"/>
              </a:rPr>
              <a:t>CI/CD Knowledge Base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1554480"/>
            <a:ext cx="2651760" cy="59436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0" y="1618488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How do I add a new service
to the deploy pipeline?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66360" y="2331720"/>
            <a:ext cx="320040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395728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To add a service, update the
deploy/services.yaml and set the
image tag in the CI config.
📎 Source: CI/CD Pipeline Guide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39319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59669"/>
                </a:solidFill>
                <a:latin typeface="Calibri"/>
              </a:rPr>
              <a:t>✓ Answer with citations in seconds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How It Works —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1554480" cy="256032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1554480" cy="1828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29184" y="1371600"/>
            <a:ext cx="402336" cy="402336"/>
          </a:xfrm>
          <a:prstGeom prst="ellipse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828800"/>
            <a:ext cx="1417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1C3557"/>
                </a:solidFill>
                <a:latin typeface="Calibri"/>
              </a:rPr>
              <a:t>Query
Rewrite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2423160"/>
            <a:ext cx="1417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607E"/>
                </a:solidFill>
                <a:latin typeface="Calibri"/>
              </a:rPr>
              <a:t>Multi-turn history
→ standalone query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65376" y="192024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891B2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79" y="1143000"/>
            <a:ext cx="1554480" cy="256032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11679" y="1143000"/>
            <a:ext cx="1554480" cy="1828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066543" y="1371600"/>
            <a:ext cx="402336" cy="402336"/>
          </a:xfrm>
          <a:prstGeom prst="ellipse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3120" y="141732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84831" y="1828800"/>
            <a:ext cx="1417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1C3557"/>
                </a:solidFill>
                <a:latin typeface="Calibri"/>
              </a:rPr>
              <a:t>Embed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84831" y="2423160"/>
            <a:ext cx="1417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607E"/>
                </a:solidFill>
                <a:latin typeface="Calibri"/>
              </a:rPr>
              <a:t>Gemini converts
query to vector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2735" y="192024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891B2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49039" y="1143000"/>
            <a:ext cx="1554480" cy="256032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49039" y="1143000"/>
            <a:ext cx="1554480" cy="1828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803904" y="1371600"/>
            <a:ext cx="402336" cy="402336"/>
          </a:xfrm>
          <a:prstGeom prst="ellipse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79" y="141732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22191" y="1828800"/>
            <a:ext cx="1417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1C3557"/>
                </a:solidFill>
                <a:latin typeface="Calibri"/>
              </a:rPr>
              <a:t>Hybrid
Search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22191" y="2423160"/>
            <a:ext cx="1417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607E"/>
                </a:solidFill>
                <a:latin typeface="Calibri"/>
              </a:rPr>
              <a:t>BM25 + vector,
alpha-blended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0096" y="192024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891B2"/>
                </a:solidFill>
                <a:latin typeface="Calibr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399" y="1143000"/>
            <a:ext cx="1554480" cy="256032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399" y="1143000"/>
            <a:ext cx="1554480" cy="1828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541264" y="1371600"/>
            <a:ext cx="402336" cy="402336"/>
          </a:xfrm>
          <a:prstGeom prst="ellipse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77839" y="141732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59551" y="1828800"/>
            <a:ext cx="1417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1C3557"/>
                </a:solidFill>
                <a:latin typeface="Calibri"/>
              </a:rPr>
              <a:t>Rerank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59551" y="2423160"/>
            <a:ext cx="1417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607E"/>
                </a:solidFill>
                <a:latin typeface="Calibri"/>
              </a:rPr>
              <a:t>Cross-encoder
scores top-30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77455" y="192024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891B2"/>
                </a:solidFill>
                <a:latin typeface="Calibri"/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23759" y="1143000"/>
            <a:ext cx="1554480" cy="256032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223759" y="1143000"/>
            <a:ext cx="1554480" cy="1828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278624" y="1371600"/>
            <a:ext cx="402336" cy="402336"/>
          </a:xfrm>
          <a:prstGeom prst="ellipse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199" y="141732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96912" y="1828800"/>
            <a:ext cx="1417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1C3557"/>
                </a:solidFill>
                <a:latin typeface="Calibri"/>
              </a:rPr>
              <a:t>Generate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96912" y="2423160"/>
            <a:ext cx="1417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607E"/>
                </a:solidFill>
                <a:latin typeface="Calibri"/>
              </a:rPr>
              <a:t>Gemini streams
answer + sources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388620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7607E"/>
                </a:solidFill>
                <a:latin typeface="Calibri"/>
              </a:rPr>
              <a:t>Data Sources: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737360" y="3840480"/>
            <a:ext cx="1463040" cy="347472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773936" y="3904487"/>
            <a:ext cx="1408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Confluence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337560" y="3840480"/>
            <a:ext cx="1463040" cy="347472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74136" y="3904487"/>
            <a:ext cx="1408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Jira Tickets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37760" y="3840480"/>
            <a:ext cx="1463040" cy="347472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74336" y="3904487"/>
            <a:ext cx="1408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Internal Docs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75120" y="3886200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607E"/>
                </a:solidFill>
                <a:latin typeface="Calibri"/>
              </a:rPr>
              <a:t>→  Storage: ParadeDB (BM25 + pgvector)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Team-Scoped Knowledge Bases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C3557"/>
                </a:solidFill>
                <a:latin typeface="Calibri"/>
              </a:rPr>
              <a:t>Each team has its own dedicated space.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4592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47607E"/>
                </a:solidFill>
                <a:latin typeface="Calibri"/>
              </a:rPr>
              <a:t>Questions on the CI/CD page only search CI/CD docs.</a:t>
            </a:r>
          </a:p>
          <a:p>
            <a:pPr algn="l"/>
            <a:r>
              <a:rPr sz="1250" b="0">
                <a:solidFill>
                  <a:srgbClr val="47607E"/>
                </a:solidFill>
                <a:latin typeface="Calibri"/>
              </a:rPr>
              <a:t>Questions on the Infra page only search Infra docs.</a:t>
            </a:r>
          </a:p>
          <a:p>
            <a:pPr algn="l"/>
            <a:r>
              <a:rPr sz="1250" b="0">
                <a:solidFill>
                  <a:srgbClr val="47607E"/>
                </a:solidFill>
                <a:latin typeface="Calibri"/>
              </a:rPr>
              <a:t>Use Search All Teams for cross-team answers.</a:t>
            </a:r>
          </a:p>
        </p:txBody>
      </p:sp>
      <p:sp>
        <p:nvSpPr>
          <p:cNvPr id="6" name="Oval 5"/>
          <p:cNvSpPr/>
          <p:nvPr/>
        </p:nvSpPr>
        <p:spPr>
          <a:xfrm>
            <a:off x="521207" y="2926080"/>
            <a:ext cx="274320" cy="2743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9260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No cross-team noise</a:t>
            </a:r>
          </a:p>
        </p:txBody>
      </p:sp>
      <p:sp>
        <p:nvSpPr>
          <p:cNvPr id="8" name="Oval 7"/>
          <p:cNvSpPr/>
          <p:nvPr/>
        </p:nvSpPr>
        <p:spPr>
          <a:xfrm>
            <a:off x="521207" y="3429000"/>
            <a:ext cx="274320" cy="2743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Team-relevant answers</a:t>
            </a:r>
          </a:p>
        </p:txBody>
      </p:sp>
      <p:sp>
        <p:nvSpPr>
          <p:cNvPr id="10" name="Oval 9"/>
          <p:cNvSpPr/>
          <p:nvPr/>
        </p:nvSpPr>
        <p:spPr>
          <a:xfrm>
            <a:off x="521207" y="3931920"/>
            <a:ext cx="274320" cy="2743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931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Easy to add new teams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1097280"/>
            <a:ext cx="2057400" cy="150876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64608" y="1234439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CI/CD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4608" y="1691640"/>
            <a:ext cx="18745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AE6FD"/>
                </a:solidFill>
                <a:latin typeface="Calibri"/>
              </a:rPr>
              <a:t>Pipelines, builds,
deployments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95160" y="1097280"/>
            <a:ext cx="2057400" cy="150876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04888" y="1234439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Infrastructure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4888" y="1691640"/>
            <a:ext cx="18745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AE6FD"/>
                </a:solidFill>
                <a:latin typeface="Calibri"/>
              </a:rPr>
              <a:t>K8s, networking,
cloud resources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2743200"/>
            <a:ext cx="2057400" cy="1508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4608" y="288036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Eng Environment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64608" y="3337560"/>
            <a:ext cx="18745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AE6FD"/>
                </a:solidFill>
                <a:latin typeface="Calibri"/>
              </a:rPr>
              <a:t>Dev setup, tooling,
onboarding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2743200"/>
            <a:ext cx="2057400" cy="1508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04888" y="288036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Search All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04888" y="3337560"/>
            <a:ext cx="18745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AE6FD"/>
                </a:solidFill>
                <a:latin typeface="Calibri"/>
              </a:rPr>
              <a:t>Cross-team
global search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Feature: Jenkins Debugger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06640" y="2743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6B6D4"/>
                </a:solidFill>
                <a:latin typeface="Calibri"/>
              </a:rPr>
              <a:t>★ Highlight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C3557"/>
                </a:solidFill>
                <a:latin typeface="Calibri"/>
              </a:rPr>
              <a:t>Paste a failed build URL.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72768"/>
            <a:ext cx="4206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7607E"/>
                </a:solidFill>
                <a:latin typeface="Calibri"/>
              </a:rPr>
              <a:t>The AI agent diagnoses why the build failed —
root cause + suggested fix — in under 60 seconds.</a:t>
            </a:r>
          </a:p>
        </p:txBody>
      </p:sp>
      <p:sp>
        <p:nvSpPr>
          <p:cNvPr id="7" name="Oval 6"/>
          <p:cNvSpPr/>
          <p:nvPr/>
        </p:nvSpPr>
        <p:spPr>
          <a:xfrm>
            <a:off x="402336" y="2423160"/>
            <a:ext cx="329184" cy="329184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487168"/>
            <a:ext cx="219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231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Fetch build status &amp; logs from Jenkins</a:t>
            </a:r>
          </a:p>
        </p:txBody>
      </p:sp>
      <p:sp>
        <p:nvSpPr>
          <p:cNvPr id="10" name="Oval 9"/>
          <p:cNvSpPr/>
          <p:nvPr/>
        </p:nvSpPr>
        <p:spPr>
          <a:xfrm>
            <a:off x="402336" y="2971800"/>
            <a:ext cx="329184" cy="329184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3035808"/>
            <a:ext cx="219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718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Compare against last successful build</a:t>
            </a:r>
          </a:p>
        </p:txBody>
      </p:sp>
      <p:sp>
        <p:nvSpPr>
          <p:cNvPr id="13" name="Oval 12"/>
          <p:cNvSpPr/>
          <p:nvPr/>
        </p:nvSpPr>
        <p:spPr>
          <a:xfrm>
            <a:off x="402336" y="3520439"/>
            <a:ext cx="329184" cy="329184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3584447"/>
            <a:ext cx="219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520439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Search KB for known fixes</a:t>
            </a:r>
          </a:p>
        </p:txBody>
      </p:sp>
      <p:sp>
        <p:nvSpPr>
          <p:cNvPr id="16" name="Oval 15"/>
          <p:cNvSpPr/>
          <p:nvPr/>
        </p:nvSpPr>
        <p:spPr>
          <a:xfrm>
            <a:off x="402336" y="4069079"/>
            <a:ext cx="329184" cy="329184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4133087"/>
            <a:ext cx="219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069079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Return root cause + fix recommendation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46320" y="1051560"/>
            <a:ext cx="4023360" cy="3749039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46320" y="1051560"/>
            <a:ext cx="4023360" cy="25603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83480" y="109728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Jenkins Debugger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3480" y="1417320"/>
            <a:ext cx="3794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607E"/>
                </a:solidFill>
                <a:latin typeface="Calibri"/>
              </a:rPr>
              <a:t>Build #123  |  Failed at: Docker Pull  |  3 tool calls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83480" y="1783080"/>
            <a:ext cx="3749039" cy="45720"/>
          </a:xfrm>
          <a:prstGeom prst="rect">
            <a:avLst/>
          </a:prstGeom>
          <a:solidFill>
            <a:srgbClr val="BAE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83480" y="1920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3557"/>
                </a:solidFill>
                <a:latin typeface="Calibri"/>
              </a:rPr>
              <a:t>Diagnosis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2267712"/>
            <a:ext cx="82296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10912" y="2286000"/>
            <a:ext cx="8046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C2626"/>
                </a:solidFill>
                <a:latin typeface="Calibri"/>
              </a:rPr>
              <a:t>ROOT CAUSE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83480" y="2578608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ECR registry credentials expired. Jenkins
cannot authenticate to pull the Docker image.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83480" y="3200400"/>
            <a:ext cx="457200" cy="256032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10912" y="3218688"/>
            <a:ext cx="4389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  <a:latin typeface="Calibri"/>
              </a:rPr>
              <a:t>FIX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83480" y="3511296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Refresh the ECR credentials in Jenkins
credential store and re-trigger the build.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83480" y="4096512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891B2"/>
                </a:solidFill>
                <a:latin typeface="Calibri"/>
              </a:rPr>
              <a:t>📎  Source: ECR Setup Runbook (Confluence)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Search Quality — Recent 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AE6FD"/>
                </a:solidFill>
                <a:latin typeface="Calibri"/>
              </a:rPr>
              <a:t>Inspired by analysis of Onyx (open-source RAG platform)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15568"/>
            <a:ext cx="2788920" cy="3547872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15568"/>
            <a:ext cx="2788920" cy="20116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65759" y="1508760"/>
            <a:ext cx="585216" cy="585216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" y="1572768"/>
            <a:ext cx="5303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2176272"/>
            <a:ext cx="25786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C3557"/>
                </a:solidFill>
                <a:latin typeface="Calibri"/>
              </a:rPr>
              <a:t>Smarter Score Fusion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633472"/>
            <a:ext cx="257860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607E"/>
                </a:solidFill>
                <a:latin typeface="Calibri"/>
              </a:rPr>
              <a:t>BM25 keyword + vector scores are now normalized and blended with a tunable weight (α=0.7 semantic-favored).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3749039"/>
            <a:ext cx="2578608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048" y="3749039"/>
            <a:ext cx="54864" cy="74980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94760"/>
            <a:ext cx="2423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607E"/>
                </a:solidFill>
                <a:latin typeface="Calibri"/>
              </a:rPr>
              <a:t>Replaces: Reciprocal Rank Fusion
Improves: result precision for semantic queries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1115568"/>
            <a:ext cx="2788920" cy="3547872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46120" y="1115568"/>
            <a:ext cx="2788920" cy="2011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337560" y="1508760"/>
            <a:ext cx="585216" cy="58521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74136" y="1572768"/>
            <a:ext cx="5303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55848" y="2176272"/>
            <a:ext cx="25786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C3557"/>
                </a:solidFill>
                <a:latin typeface="Calibri"/>
              </a:rPr>
              <a:t>Time-Decay Scoring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55848" y="2633472"/>
            <a:ext cx="257860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607E"/>
                </a:solidFill>
                <a:latin typeface="Calibri"/>
              </a:rPr>
              <a:t>Older documents are automatically ranked lower using an exponential decay on the last-updated date.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55848" y="3749039"/>
            <a:ext cx="2578608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55848" y="3749039"/>
            <a:ext cx="54864" cy="7498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3794760"/>
            <a:ext cx="2423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607E"/>
                </a:solidFill>
                <a:latin typeface="Calibri"/>
              </a:rPr>
              <a:t>~50% penalty after 231 days
Stale docs stay below fresh ones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115568"/>
            <a:ext cx="2788920" cy="3547872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1115568"/>
            <a:ext cx="2788920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09359" y="1508760"/>
            <a:ext cx="585216" cy="585216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45936" y="1572768"/>
            <a:ext cx="5303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7648" y="2176272"/>
            <a:ext cx="25786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C3557"/>
                </a:solidFill>
                <a:latin typeface="Calibri"/>
              </a:rPr>
              <a:t>Token Budget Assembly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7648" y="2633472"/>
            <a:ext cx="257860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607E"/>
                </a:solidFill>
                <a:latin typeface="Calibri"/>
              </a:rPr>
              <a:t>Context assembly now greedily fills a 6,000-token budget instead of using a hard relevance cutoff score.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27648" y="3749039"/>
            <a:ext cx="2578608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27648" y="3749039"/>
            <a:ext cx="54864" cy="7498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3794760"/>
            <a:ext cx="2423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607E"/>
                </a:solidFill>
                <a:latin typeface="Calibri"/>
              </a:rPr>
              <a:t>Replaces: fixed threshold 0.3
Adapts to actual content length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5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What We Built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965960" cy="3291840"/>
          </a:xfrm>
          <a:prstGeom prst="rect">
            <a:avLst/>
          </a:prstGeom>
          <a:solidFill>
            <a:srgbClr val="25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1208" y="1234440"/>
            <a:ext cx="1783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06B6D4"/>
                </a:solidFill>
                <a:latin typeface="Calibri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2240280"/>
            <a:ext cx="1600200" cy="36576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331720"/>
            <a:ext cx="18105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Team knowledge
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2971800"/>
            <a:ext cx="18470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AE6FD"/>
                </a:solidFill>
                <a:latin typeface="Calibri"/>
              </a:rPr>
              <a:t>CI/CD · Infra · Eng Env · Search All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6040" y="1097280"/>
            <a:ext cx="1965960" cy="3291840"/>
          </a:xfrm>
          <a:prstGeom prst="rect">
            <a:avLst/>
          </a:prstGeom>
          <a:solidFill>
            <a:srgbClr val="25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15768" y="1234440"/>
            <a:ext cx="1783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06B6D4"/>
                </a:solidFill>
                <a:latin typeface="Calibri"/>
              </a:rPr>
              <a:t>&lt; 60s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88920" y="2240280"/>
            <a:ext cx="1600200" cy="36576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97480" y="2331720"/>
            <a:ext cx="18105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Jenkins build
diagnosis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79192" y="2971800"/>
            <a:ext cx="18470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AE6FD"/>
                </a:solidFill>
                <a:latin typeface="Calibri"/>
              </a:rPr>
              <a:t>Root cause + fix from URL alone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00600" y="1097280"/>
            <a:ext cx="1965960" cy="3291840"/>
          </a:xfrm>
          <a:prstGeom prst="rect">
            <a:avLst/>
          </a:prstGeom>
          <a:solidFill>
            <a:srgbClr val="25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10328" y="1234440"/>
            <a:ext cx="1783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06B6D4"/>
                </a:solidFill>
                <a:latin typeface="Calibri"/>
              </a:rPr>
              <a:t>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83480" y="2240280"/>
            <a:ext cx="1600200" cy="36576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2331720"/>
            <a:ext cx="18105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Jenkins failure
scenarios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73752" y="2971800"/>
            <a:ext cx="18470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AE6FD"/>
                </a:solidFill>
                <a:latin typeface="Calibri"/>
              </a:rPr>
              <a:t>ECR · Disk · HTTP 403 · GitLab · Baseline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95159" y="1097280"/>
            <a:ext cx="1965960" cy="3291840"/>
          </a:xfrm>
          <a:prstGeom prst="rect">
            <a:avLst/>
          </a:prstGeom>
          <a:solidFill>
            <a:srgbClr val="25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04888" y="1234440"/>
            <a:ext cx="1783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06B6D4"/>
                </a:solidFill>
                <a:latin typeface="Calibri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78040" y="2240280"/>
            <a:ext cx="1600200" cy="36576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6599" y="2331720"/>
            <a:ext cx="18105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Search quality
improvements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68312" y="2971800"/>
            <a:ext cx="18470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AE6FD"/>
                </a:solidFill>
                <a:latin typeface="Calibri"/>
              </a:rPr>
              <a:t>Score fusion · Time-decay · Token budget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8AA8"/>
                </a:solidFill>
                <a:latin typeface="Calibri"/>
              </a:rPr>
              <a:t>Built &amp; QA'd in sprints. Zero known bugs. Health score 99/100.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Tech Stack &amp; Deployment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8595360" cy="713232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64008" cy="71323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70432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3557"/>
                </a:solidFill>
                <a:latin typeface="Calibri"/>
              </a:rPr>
              <a:t>Next.js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17043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891B2"/>
                </a:solidFill>
                <a:latin typeface="Calibri"/>
              </a:rPr>
              <a:t>TypeScript · Tailwind CSS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117043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607E"/>
                </a:solidFill>
                <a:latin typeface="Calibri"/>
              </a:rPr>
              <a:t>Chat UI, Jenkins Debugger UI, API routes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24128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7607E"/>
                </a:solidFill>
                <a:latin typeface="Calibri"/>
              </a:rPr>
              <a:t>Component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024128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7607E"/>
                </a:solidFill>
                <a:latin typeface="Calibri"/>
              </a:rPr>
              <a:t>Technology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97880" y="1024128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7607E"/>
                </a:solidFill>
                <a:latin typeface="Calibri"/>
              </a:rPr>
              <a:t>Purpose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856231"/>
            <a:ext cx="859536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856231"/>
            <a:ext cx="64008" cy="713232"/>
          </a:xfrm>
          <a:prstGeom prst="rect">
            <a:avLst/>
          </a:prstGeom>
          <a:solidFill>
            <a:srgbClr val="BAE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929384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3557"/>
                </a:solidFill>
                <a:latin typeface="Calibri"/>
              </a:rPr>
              <a:t>ParadeDB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1929384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891B2"/>
                </a:solidFill>
                <a:latin typeface="Calibri"/>
              </a:rPr>
              <a:t>PostgreSQL 17 + pgvector + pg_search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192938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607E"/>
                </a:solidFill>
                <a:latin typeface="Calibri"/>
              </a:rPr>
              <a:t>Hybrid search: BM25 + vector in one DB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615184"/>
            <a:ext cx="8595360" cy="713232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2615184"/>
            <a:ext cx="64008" cy="71323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688336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3557"/>
                </a:solidFill>
                <a:latin typeface="Calibri"/>
              </a:rPr>
              <a:t>Reranker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2688336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891B2"/>
                </a:solidFill>
                <a:latin typeface="Calibri"/>
              </a:rPr>
              <a:t>FastAPI · cross-encoder/ms-marco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97880" y="268833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607E"/>
                </a:solidFill>
                <a:latin typeface="Calibri"/>
              </a:rPr>
              <a:t>Cross-encoder scoring sidecar on port 8000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374135"/>
            <a:ext cx="859536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3374135"/>
            <a:ext cx="64008" cy="713232"/>
          </a:xfrm>
          <a:prstGeom prst="rect">
            <a:avLst/>
          </a:prstGeom>
          <a:solidFill>
            <a:srgbClr val="BAE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447287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3557"/>
                </a:solidFill>
                <a:latin typeface="Calibri"/>
              </a:rPr>
              <a:t>Ingestion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40280" y="3447287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891B2"/>
                </a:solidFill>
                <a:latin typeface="Calibri"/>
              </a:rPr>
              <a:t>Python 3.11 · uv · one-shot container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97880" y="3447287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607E"/>
                </a:solidFill>
                <a:latin typeface="Calibri"/>
              </a:rPr>
              <a:t>Confluence, Jira, docs → chunked → embedded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133087"/>
            <a:ext cx="8595360" cy="713232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4133087"/>
            <a:ext cx="64008" cy="71323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20624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3557"/>
                </a:solidFill>
                <a:latin typeface="Calibri"/>
              </a:rPr>
              <a:t>Google Gemini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20624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891B2"/>
                </a:solidFill>
                <a:latin typeface="Calibri"/>
              </a:rPr>
              <a:t>gemini-2.5-flash · gemini-embedding-001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97880" y="42062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607E"/>
                </a:solidFill>
                <a:latin typeface="Calibri"/>
              </a:rPr>
              <a:t>LLM generation + 768-dim embeddings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What's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4160520" cy="1664208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64008" cy="166420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74720" y="1234440"/>
            <a:ext cx="841248" cy="2743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0" y="1252728"/>
            <a:ext cx="8412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Short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125272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C3557"/>
                </a:solidFill>
                <a:latin typeface="Calibri"/>
              </a:rPr>
              <a:t>🔧  Token-aware chunking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673352"/>
            <a:ext cx="3886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607E"/>
                </a:solidFill>
                <a:latin typeface="Calibri"/>
              </a:rPr>
              <a:t>Guard embedding model input limits in ingestion. Prevent silent chunk overflow at 2048 tokens.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59" y="1143000"/>
            <a:ext cx="4160520" cy="1664208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09159" y="1143000"/>
            <a:ext cx="64008" cy="16642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09559" y="1234440"/>
            <a:ext cx="841248" cy="274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59" y="1252728"/>
            <a:ext cx="8412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Sprint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73751" y="125272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C3557"/>
                </a:solidFill>
                <a:latin typeface="Calibri"/>
              </a:rPr>
              <a:t>📎  Jenkinsfile diff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73751" y="1673352"/>
            <a:ext cx="3886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607E"/>
                </a:solidFill>
                <a:latin typeface="Calibri"/>
              </a:rPr>
              <a:t>Sprint 3: compare current vs last-good Jenkinsfile to surface config regressions in the diff.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017520"/>
            <a:ext cx="4160520" cy="1664208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3017520"/>
            <a:ext cx="64008" cy="16642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74720" y="3108960"/>
            <a:ext cx="841248" cy="2743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0" y="3127248"/>
            <a:ext cx="8412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Future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" y="312724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C3557"/>
                </a:solidFill>
                <a:latin typeface="Calibri"/>
              </a:rPr>
              <a:t>🔌  More data connectors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" y="3547872"/>
            <a:ext cx="3886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607E"/>
                </a:solidFill>
                <a:latin typeface="Calibri"/>
              </a:rPr>
              <a:t>Add Slack channel indexing and GitHub PR comments. Unified connector interface (Onyx pattern).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09159" y="3017520"/>
            <a:ext cx="4160520" cy="1664208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09159" y="3017520"/>
            <a:ext cx="64008" cy="16642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909559" y="3108960"/>
            <a:ext cx="841248" cy="274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09559" y="3127248"/>
            <a:ext cx="8412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Future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73751" y="312724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C3557"/>
                </a:solidFill>
                <a:latin typeface="Calibri"/>
              </a:rPr>
              <a:t>📊  Usage analytics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73751" y="3547872"/>
            <a:ext cx="3886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607E"/>
                </a:solidFill>
                <a:latin typeface="Calibri"/>
              </a:rPr>
              <a:t>Track which teams use which KB spaces, query volumes, feedback rates. Drive prioritization.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5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194560" y="3474720"/>
            <a:ext cx="3657600" cy="3657600"/>
          </a:xfrm>
          <a:prstGeom prst="ellipse">
            <a:avLst/>
          </a:prstGeom>
          <a:solidFill>
            <a:srgbClr val="14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863840" y="-1828800"/>
            <a:ext cx="3291840" cy="3291840"/>
          </a:xfrm>
          <a:prstGeom prst="ellipse">
            <a:avLst/>
          </a:prstGeom>
          <a:solidFill>
            <a:srgbClr val="087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589520" y="3840480"/>
            <a:ext cx="2194560" cy="219456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B6D4"/>
                </a:solidFill>
                <a:latin typeface="Calibri"/>
              </a:rPr>
              <a:t>ACME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Questions?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2788920"/>
            <a:ext cx="274320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AE6FD"/>
                </a:solidFill>
                <a:latin typeface="Calibri"/>
              </a:rPr>
              <a:t>Repo:  HankLu-2019/chatbot-devops</a:t>
            </a:r>
          </a:p>
          <a:p>
            <a:pPr algn="ctr"/>
            <a:r>
              <a:rPr sz="1300" b="0">
                <a:solidFill>
                  <a:srgbClr val="BAE6FD"/>
                </a:solidFill>
                <a:latin typeface="Calibri"/>
              </a:rPr>
              <a:t>Branch:  feat/multi-page-team-frontend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86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A9BBF"/>
                </a:solidFill>
                <a:latin typeface="Calibri"/>
              </a:rPr>
              <a:t>Built with Next.js · ParadeDB · Google Gemini · FastAPI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